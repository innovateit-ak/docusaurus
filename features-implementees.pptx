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FFCC00"/>
                </a:solidFill>
                <a:latin typeface="Calibri"/>
              </a:rPr>
              <a:t>PLATEFORME DE DOCUMENTATION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Docusaurus — Features implémentées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CCD6EE"/>
                </a:solidFill>
                <a:latin typeface="Calibri"/>
              </a:rPr>
              <a:t>Documentation modulaire, diagrammes d'architecture &amp; export PDF professionnel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AABBDD"/>
                </a:solidFill>
                <a:latin typeface="Calibri"/>
              </a:rPr>
              <a:t>InnovateIt-ak / docusaurus</a:t>
            </a:r>
            <a:r>
              <a:rPr sz="1400" b="0" i="0">
                <a:solidFill>
                  <a:srgbClr val="AABBDD"/>
                </a:solidFill>
                <a:latin typeface="Calibri"/>
              </a:rPr>
              <a:t>      •      25 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Vue d'ensemble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Objectif — </a:t>
            </a:r>
            <a:r>
              <a:rPr sz="1700">
                <a:solidFill>
                  <a:srgbClr val="1A1A2E"/>
                </a:solidFill>
              </a:rPr>
              <a:t>transformer Docusaurus en plateforme de documentation technique d'architecture, versionnée et exportable.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Documentation modulaire — </a:t>
            </a:r>
            <a:r>
              <a:rPr sz="1700">
                <a:solidFill>
                  <a:srgbClr val="1A1A2E"/>
                </a:solidFill>
              </a:rPr>
              <a:t>directive #include pour assembler des fragments Markdown réutilisables.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Diagrammes vivants — </a:t>
            </a:r>
            <a:r>
              <a:rPr sz="1700">
                <a:solidFill>
                  <a:srgbClr val="1A1A2E"/>
                </a:solidFill>
              </a:rPr>
              <a:t>intégration LikeC4 (architecture as code) et tldraw pour les schémas interactifs.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Export PDF pro — </a:t>
            </a:r>
            <a:r>
              <a:rPr sz="1700">
                <a:solidFill>
                  <a:srgbClr val="1A1A2E"/>
                </a:solidFill>
              </a:rPr>
              <a:t>génération d'un PDF unique, paginé et branché, via WeasyPrint conteneurisé.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Industrialisation — </a:t>
            </a:r>
            <a:r>
              <a:rPr sz="1700">
                <a:solidFill>
                  <a:srgbClr val="1A1A2E"/>
                </a:solidFill>
              </a:rPr>
              <a:t>Docker / docker-compose, Makefile et CI/CD GitHub Actions (Pages + artefacts PDF).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FEATURE 1 — DOCUMENTATION MODULAIRE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Directive #include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>
                <a:solidFill>
                  <a:srgbClr val="1A1A2E"/>
                </a:solidFill>
              </a:rPr>
              <a:t>Plugin remark maison : assemble plusieurs fichiers Markdown en une seule page.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syntaxe simple : #include "chemin/vers/fragment.md" sur sa propre ligne.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aucun import / déclaration : le contenu est inséré à l'emplacement de la directive.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chemin résolu relativement au fichier appelant, front-matter retiré automatiquement.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Inclusions imbriquées — </a:t>
            </a:r>
            <a:r>
              <a:rPr sz="1700">
                <a:solidFill>
                  <a:srgbClr val="1A1A2E"/>
                </a:solidFill>
              </a:rPr>
              <a:t>un fragment peut lui-même en inclure d'autres.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détection des cycles (inclusion circulaire) avec erreur explicite.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Robustesse — </a:t>
            </a:r>
            <a:r>
              <a:rPr sz="1700">
                <a:solidFill>
                  <a:srgbClr val="1A1A2E"/>
                </a:solidFill>
              </a:rPr>
              <a:t>détection sur le texte source brut → pas de pièges Markdown (ex. les _ dans les noms de fichiers).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FEATURE 2 — EXPÉRIENCE DÉVELOPPEUR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Live-reload des fragments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Problème — </a:t>
            </a:r>
            <a:r>
              <a:rPr sz="1700">
                <a:solidFill>
                  <a:srgbClr val="1A1A2E"/>
                </a:solidFill>
              </a:rPr>
              <a:t>le plugin remark lit les fragments via fs ; webpack ignore cette dépendance et ne recompile pas la page quand un fragment change.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Solution — </a:t>
            </a:r>
            <a:r>
              <a:rPr sz="1700">
                <a:solidFill>
                  <a:srgbClr val="1A1A2E"/>
                </a:solidFill>
              </a:rPr>
              <a:t>un pre-loader webpack déclare chaque fichier inclus comme dépendance de la page.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appel récursif de this.addDependency() pour chaque #include (et leurs imbrications).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la source reste inchangée : le loader ne fait qu'enregistrer les dépendances.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Résultat — </a:t>
            </a:r>
            <a:r>
              <a:rPr sz="1700">
                <a:solidFill>
                  <a:srgbClr val="1A1A2E"/>
                </a:solidFill>
              </a:rPr>
              <a:t>le hot reload fonctionne — modifier un fragment rafraîchit instantanément toutes les pages qui l'incluent.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FEATURE 3 — RÉUTILISATION DE CONTENU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Partials &amp; composants réutilisables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Partial « Prérequis » — </a:t>
            </a:r>
            <a:r>
              <a:rPr sz="1700">
                <a:solidFill>
                  <a:srgbClr val="1A1A2E"/>
                </a:solidFill>
              </a:rPr>
              <a:t>bloc Markdown réutilisable factorisé (docs/_chapters, _fragments).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Composant MDX global — </a:t>
            </a:r>
            <a:r>
              <a:rPr sz="1700">
                <a:solidFill>
                  <a:srgbClr val="1A1A2E"/>
                </a:solidFill>
              </a:rPr>
              <a:t>Prerequis enregistré globalement → utilisable dans n'importe quelle page sans import.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Fragments d'architecture — </a:t>
            </a:r>
            <a:r>
              <a:rPr sz="1700">
                <a:solidFill>
                  <a:srgbClr val="1A1A2E"/>
                </a:solidFill>
              </a:rPr>
              <a:t>_fragments/level-1-context.md, level-2-components.md inclus dans les chapitres.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Bénéfice — </a:t>
            </a:r>
            <a:r>
              <a:rPr sz="1700">
                <a:solidFill>
                  <a:srgbClr val="1A1A2E"/>
                </a:solidFill>
              </a:rPr>
              <a:t>une seule source de vérité : on met à jour le fragment, toutes les pages suivent.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FEATURE 4 — ARCHITECTURE AS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Diagrammes d'architecture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LikeC4 — </a:t>
            </a:r>
            <a:r>
              <a:rPr sz="1700">
                <a:solidFill>
                  <a:srgbClr val="1A1A2E"/>
                </a:solidFill>
              </a:rPr>
              <a:t>modèle d'architecture as code (C4) : spec, modèle, vues, déploiements (dev / prod), use-cases.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génération de diagrammes statiques (build-likec4) et de composants React interactifs (codegen).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page dédiée /likec4 pour explorer le diagramme interactif.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tldraw — </a:t>
            </a:r>
            <a:r>
              <a:rPr sz="1700">
                <a:solidFill>
                  <a:srgbClr val="1A1A2E"/>
                </a:solidFill>
              </a:rPr>
              <a:t>page /tldraw pour les schémas libres et le whiteboarding intégré au site.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Docs d'architecture — </a:t>
            </a:r>
            <a:r>
              <a:rPr sz="1700">
                <a:solidFill>
                  <a:srgbClr val="1A1A2E"/>
                </a:solidFill>
              </a:rPr>
              <a:t>chapitres structurés : executive summary, stakeholders, ADR, building blocks, non-functional…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FEATURE 5 — WEASYPRINT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Export PDF professionnel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Document unique — </a:t>
            </a:r>
            <a:r>
              <a:rPr sz="1700">
                <a:solidFill>
                  <a:srgbClr val="1A1A2E"/>
                </a:solidFill>
              </a:rPr>
              <a:t>tout le dossier docs/ assemblé en un seul PDF (make pdf).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Mise en page pro — </a:t>
            </a:r>
            <a:r>
              <a:rPr sz="1700">
                <a:solidFill>
                  <a:srgbClr val="1A1A2E"/>
                </a:solidFill>
              </a:rPr>
              <a:t>page de couverture brandée, table des matières automatique avec vrais numéros de page, en-têtes courants et signets PDF.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Conteneurisé — </a:t>
            </a:r>
            <a:r>
              <a:rPr sz="1700">
                <a:solidFill>
                  <a:srgbClr val="1A1A2E"/>
                </a:solidFill>
              </a:rPr>
              <a:t>image Docker dédiée (docker/weasyprint), profil compose pdf, styles via report.css.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Options CLI — </a:t>
            </a:r>
            <a:r>
              <a:rPr sz="1700">
                <a:solidFill>
                  <a:srgbClr val="1A1A2E"/>
                </a:solidFill>
              </a:rPr>
              <a:t>--base-url, --title / --subtitle / --eyebrow, --exclude (ex. la page LikeC4 interactive non rendue en PDF).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Polices — </a:t>
            </a:r>
            <a:r>
              <a:rPr sz="1700">
                <a:solidFill>
                  <a:srgbClr val="1A1A2E"/>
                </a:solidFill>
              </a:rPr>
              <a:t>IBM Plex (Sans / Mono) vendues dans le repo pour un rendu reproductible.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FEATURE 5 (SUITE) — SÉCURITÉ /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Image durcie &amp; build multi-stage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Base hardened — </a:t>
            </a:r>
            <a:r>
              <a:rPr sz="1700">
                <a:solidFill>
                  <a:srgbClr val="1A1A2E"/>
                </a:solidFill>
              </a:rPr>
              <a:t>image construite sur Red Hat hardened images (hi/python).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Multi-stage — </a:t>
            </a:r>
            <a:r>
              <a:rPr sz="1700">
                <a:solidFill>
                  <a:srgbClr val="1A1A2E"/>
                </a:solidFill>
              </a:rPr>
              <a:t>stage builder (3.12-builder) compile le venv et stage les libs natives + polices ; copiées dans un runtime minimal (3.12).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glibc/éditeur de liens runtime conservés, libs UBI inutiles retirées → image légère.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Dépendances à jour — </a:t>
            </a:r>
            <a:r>
              <a:rPr sz="1700">
                <a:solidFill>
                  <a:srgbClr val="1A1A2E"/>
                </a:solidFill>
              </a:rPr>
              <a:t>Docusaurus 3.10.1 + likec4 1.58 pour corriger des advisories de sécurité.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B4FA0"/>
                </a:solidFill>
                <a:latin typeface="Calibri"/>
              </a:rPr>
              <a:t>FEATURE 6 — BUILD &amp; DÉPLOIEMENT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3399"/>
                </a:solidFill>
                <a:latin typeface="Calibri"/>
              </a:rPr>
              <a:t>Industrialisation : CI/CD &amp; Docker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201168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deploy.yml — </a:t>
            </a:r>
            <a:r>
              <a:rPr sz="1700">
                <a:solidFill>
                  <a:srgbClr val="1A1A2E"/>
                </a:solidFill>
              </a:rPr>
              <a:t>publie le site + documentation.pdf sur GitHub Pages (téléchargeable depuis l'URL déployée).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4FA0"/>
                </a:solidFill>
              </a:rPr>
              <a:t>    –  </a:t>
            </a:r>
            <a:r>
              <a:rPr sz="1500">
                <a:solidFill>
                  <a:srgbClr val="4A4A4A"/>
                </a:solidFill>
              </a:rPr>
              <a:t>à chaque push et pull request : artefact documentation-pdf produit (job build-pdf).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architecture-pdf-release.yml — </a:t>
            </a:r>
            <a:r>
              <a:rPr sz="1700">
                <a:solidFill>
                  <a:srgbClr val="1A1A2E"/>
                </a:solidFill>
              </a:rPr>
              <a:t>propose le PDF d'architecture en Pull Request à chaque release (ouverte via un PAT).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Docker / compose — </a:t>
            </a:r>
            <a:r>
              <a:rPr sz="1700">
                <a:solidFill>
                  <a:srgbClr val="1A1A2E"/>
                </a:solidFill>
              </a:rPr>
              <a:t>compose.yaml (dev + profil pdf), compose-prod.yaml, reverse-proxy Caddy.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>
                <a:solidFill>
                  <a:srgbClr val="FFCC00"/>
                </a:solidFill>
              </a:rPr>
              <a:t>•  </a:t>
            </a:r>
            <a:r>
              <a:rPr sz="1700" b="1">
                <a:solidFill>
                  <a:srgbClr val="003399"/>
                </a:solidFill>
              </a:rPr>
              <a:t>Makefile — </a:t>
            </a:r>
            <a:r>
              <a:rPr sz="1700">
                <a:solidFill>
                  <a:srgbClr val="1A1A2E"/>
                </a:solidFill>
              </a:rPr>
              <a:t>make dev, make prod, make pdf — un point d'entrée unique pour toute la chaîne.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4A4A4A"/>
                </a:solidFill>
                <a:latin typeface="Calibri"/>
              </a:rPr>
              <a:t>Plateforme de documentation Docusaurus — features implémentées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 i="0">
                <a:solidFill>
                  <a:srgbClr val="4A4A4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En résumé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1371600"/>
            <a:ext cx="1828800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Documentation modulaire  —  </a:t>
            </a:r>
            <a:r>
              <a:rPr sz="1600" b="0" i="0">
                <a:solidFill>
                  <a:srgbClr val="CCD6EE"/>
                </a:solidFill>
                <a:latin typeface="Calibri"/>
              </a:rPr>
              <a:t>Directive #include + hot reload des fragments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9572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Réutilisation  —  </a:t>
            </a:r>
            <a:r>
              <a:rPr sz="1600" b="0" i="0">
                <a:solidFill>
                  <a:srgbClr val="CCD6EE"/>
                </a:solidFill>
                <a:latin typeface="Calibri"/>
              </a:rPr>
              <a:t>Partials &amp; composant MDX global « Prérequis 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5409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Architecture as code  —  </a:t>
            </a:r>
            <a:r>
              <a:rPr sz="1600" b="0" i="0">
                <a:solidFill>
                  <a:srgbClr val="CCD6EE"/>
                </a:solidFill>
                <a:latin typeface="Calibri"/>
              </a:rPr>
              <a:t>LikeC4 (C4) + tldraw, diagrammes interactifs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1246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Export PDF pro  —  </a:t>
            </a:r>
            <a:r>
              <a:rPr sz="1600" b="0" i="0">
                <a:solidFill>
                  <a:srgbClr val="CCD6EE"/>
                </a:solidFill>
                <a:latin typeface="Calibri"/>
              </a:rPr>
              <a:t>WeasyPrint conteneurisé, couverture + TOC + signets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37083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Sécurité  —  </a:t>
            </a:r>
            <a:r>
              <a:rPr sz="1600" b="0" i="0">
                <a:solidFill>
                  <a:srgbClr val="CCD6EE"/>
                </a:solidFill>
                <a:latin typeface="Calibri"/>
              </a:rPr>
              <a:t>Image Red Hat hardened, build multi-stage, deps à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0292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CC00"/>
                </a:solidFill>
                <a:latin typeface="Calibri"/>
              </a:rPr>
              <a:t>✓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CI/CD  —  </a:t>
            </a:r>
            <a:r>
              <a:rPr sz="1600" b="0" i="0">
                <a:solidFill>
                  <a:srgbClr val="CCD6EE"/>
                </a:solidFill>
                <a:latin typeface="Calibri"/>
              </a:rPr>
              <a:t>GitHub Pages, artefacts PDF, PDF de release en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CC00"/>
                </a:solidFill>
                <a:latin typeface="Calibri"/>
              </a:rPr>
              <a:t>Merci !  —  InnovateIt-ak / docusaurus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