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109728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ocusaur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502920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146304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CC00"/>
                </a:solidFill>
                <a:latin typeface="Calibri"/>
              </a:rPr>
              <a:t>GUIDE D'UTILISATION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3327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Docusaurus — Guide d'utilisation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CCD6EE"/>
                </a:solidFill>
                <a:latin typeface="Calibri"/>
              </a:rPr>
              <a:t>Rédiger, prévisualiser, illustrer et exporter votre documentation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AABBDD"/>
                </a:solidFill>
                <a:latin typeface="Calibri"/>
              </a:rPr>
              <a:t>InnovateIt-ak / docusaurus</a:t>
            </a:r>
            <a:r>
              <a:rPr sz="1400" b="0">
                <a:solidFill>
                  <a:srgbClr val="AABBDD"/>
                </a:solidFill>
                <a:latin typeface="Calibri"/>
              </a:rPr>
              <a:t>      •      25 juin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4FA0"/>
                </a:solidFill>
                <a:latin typeface="Calibri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3399"/>
                </a:solidFill>
                <a:latin typeface="Calibri"/>
              </a:rPr>
              <a:t>Ce que vous pouvez faire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2011680" cy="3810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288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600" b="1">
                <a:solidFill>
                  <a:srgbClr val="FFCC00"/>
                </a:solidFill>
              </a:rPr>
              <a:t>•  </a:t>
            </a:r>
            <a:r>
              <a:rPr sz="1600" b="1">
                <a:solidFill>
                  <a:srgbClr val="003399"/>
                </a:solidFill>
              </a:rPr>
              <a:t>Rédiger — </a:t>
            </a:r>
            <a:r>
              <a:rPr sz="1600">
                <a:solidFill>
                  <a:srgbClr val="1A1A2E"/>
                </a:solidFill>
              </a:rPr>
              <a:t>écrivez vos docs en Markdown / MDX, comme d'habitude.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600" b="1">
                <a:solidFill>
                  <a:srgbClr val="FFCC00"/>
                </a:solidFill>
              </a:rPr>
              <a:t>•  </a:t>
            </a:r>
            <a:r>
              <a:rPr sz="1600" b="1">
                <a:solidFill>
                  <a:srgbClr val="003399"/>
                </a:solidFill>
              </a:rPr>
              <a:t>Assembler — </a:t>
            </a:r>
            <a:r>
              <a:rPr sz="1600">
                <a:solidFill>
                  <a:srgbClr val="1A1A2E"/>
                </a:solidFill>
              </a:rPr>
              <a:t>réutilisez des fragments avec la directive #include — sans aucun import.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600" b="1">
                <a:solidFill>
                  <a:srgbClr val="FFCC00"/>
                </a:solidFill>
              </a:rPr>
              <a:t>•  </a:t>
            </a:r>
            <a:r>
              <a:rPr sz="1600" b="1">
                <a:solidFill>
                  <a:srgbClr val="003399"/>
                </a:solidFill>
              </a:rPr>
              <a:t>Illustrer — </a:t>
            </a:r>
            <a:r>
              <a:rPr sz="1600">
                <a:solidFill>
                  <a:srgbClr val="1A1A2E"/>
                </a:solidFill>
              </a:rPr>
              <a:t>intégrez des diagrammes d'architecture (LikeC4) et des schémas (tldraw).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600" b="1">
                <a:solidFill>
                  <a:srgbClr val="FFCC00"/>
                </a:solidFill>
              </a:rPr>
              <a:t>•  </a:t>
            </a:r>
            <a:r>
              <a:rPr sz="1600" b="1">
                <a:solidFill>
                  <a:srgbClr val="003399"/>
                </a:solidFill>
              </a:rPr>
              <a:t>Prévisualiser — </a:t>
            </a:r>
            <a:r>
              <a:rPr sz="1600">
                <a:solidFill>
                  <a:srgbClr val="1A1A2E"/>
                </a:solidFill>
              </a:rPr>
              <a:t>aperçu en direct : toute modif (même d'un fragment inclus) se rafraîchit instantanément.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600" b="1">
                <a:solidFill>
                  <a:srgbClr val="FFCC00"/>
                </a:solidFill>
              </a:rPr>
              <a:t>•  </a:t>
            </a:r>
            <a:r>
              <a:rPr sz="1600" b="1">
                <a:solidFill>
                  <a:srgbClr val="003399"/>
                </a:solidFill>
              </a:rPr>
              <a:t>Exporter — </a:t>
            </a:r>
            <a:r>
              <a:rPr sz="1600">
                <a:solidFill>
                  <a:srgbClr val="1A1A2E"/>
                </a:solidFill>
              </a:rPr>
              <a:t>générez un PDF unique et brandé, et publiez le site en une commande.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A4A4A"/>
                </a:solidFill>
                <a:latin typeface="Calibri"/>
              </a:rPr>
              <a:t>Docusaurus — guide d'utilisation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1908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4A4A4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4FA0"/>
                </a:solidFill>
                <a:latin typeface="Calibri"/>
              </a:rPr>
              <a:t>RÉDIGER — DOCUMENTATION MODULAIRE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3399"/>
                </a:solidFill>
                <a:latin typeface="Calibri"/>
              </a:rPr>
              <a:t>Assembler avec #include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2011680" cy="3810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2880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600" b="1">
                <a:solidFill>
                  <a:srgbClr val="FFCC00"/>
                </a:solidFill>
              </a:rPr>
              <a:t>•  </a:t>
            </a:r>
            <a:r>
              <a:rPr sz="1600" b="1">
                <a:solidFill>
                  <a:srgbClr val="003399"/>
                </a:solidFill>
              </a:rPr>
              <a:t>But — </a:t>
            </a:r>
            <a:r>
              <a:rPr sz="1600">
                <a:solidFill>
                  <a:srgbClr val="1A1A2E"/>
                </a:solidFill>
              </a:rPr>
              <a:t>composer une page à partir de plusieurs fichiers.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600" b="1">
                <a:solidFill>
                  <a:srgbClr val="FFCC00"/>
                </a:solidFill>
              </a:rPr>
              <a:t>•  </a:t>
            </a:r>
            <a:r>
              <a:rPr sz="1600">
                <a:solidFill>
                  <a:srgbClr val="1A1A2E"/>
                </a:solidFill>
              </a:rPr>
              <a:t>écrivez #include "chemin/fichier.md" sur sa propre ligne.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400" b="1">
                <a:solidFill>
                  <a:srgbClr val="1B4FA0"/>
                </a:solidFill>
              </a:rPr>
              <a:t>   –  </a:t>
            </a:r>
            <a:r>
              <a:rPr sz="1400">
                <a:solidFill>
                  <a:srgbClr val="4A4A4A"/>
                </a:solidFill>
              </a:rPr>
              <a:t>aucun import : le contenu est inséré à cet endroit.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400" b="1">
                <a:solidFill>
                  <a:srgbClr val="1B4FA0"/>
                </a:solidFill>
              </a:rPr>
              <a:t>   –  </a:t>
            </a:r>
            <a:r>
              <a:rPr sz="1400">
                <a:solidFill>
                  <a:srgbClr val="4A4A4A"/>
                </a:solidFill>
              </a:rPr>
              <a:t>chemin relatif au fichier ; front-matter retiré.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600" b="1">
                <a:solidFill>
                  <a:srgbClr val="FFCC00"/>
                </a:solidFill>
              </a:rPr>
              <a:t>•  </a:t>
            </a:r>
            <a:r>
              <a:rPr sz="1600" b="1">
                <a:solidFill>
                  <a:srgbClr val="003399"/>
                </a:solidFill>
              </a:rPr>
              <a:t>Astuce — </a:t>
            </a:r>
            <a:r>
              <a:rPr sz="1600">
                <a:solidFill>
                  <a:srgbClr val="1A1A2E"/>
                </a:solidFill>
              </a:rPr>
              <a:t>un dossier _fragments/ (underscore) reste hors de la sidebar.</a:t>
            </a:r>
          </a:p>
        </p:txBody>
      </p:sp>
      <p:pic>
        <p:nvPicPr>
          <p:cNvPr id="7" name="Picture 6" descr="01-include-us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2302956"/>
            <a:ext cx="6035040" cy="316648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419088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A4A4A"/>
                </a:solidFill>
                <a:latin typeface="Calibri"/>
              </a:rPr>
              <a:t>Docusaurus — guide d'utilisation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1908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4A4A4A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4FA0"/>
                </a:solidFill>
                <a:latin typeface="Calibri"/>
              </a:rPr>
              <a:t>PRÉVISUALISER — FLUX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3399"/>
                </a:solidFill>
                <a:latin typeface="Calibri"/>
              </a:rPr>
              <a:t>Lancer et prévisualiser le site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2011680" cy="3810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288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600" b="1">
                <a:solidFill>
                  <a:srgbClr val="FFCC00"/>
                </a:solidFill>
              </a:rPr>
              <a:t>•  </a:t>
            </a:r>
            <a:r>
              <a:rPr sz="1600" b="1">
                <a:solidFill>
                  <a:srgbClr val="003399"/>
                </a:solidFill>
              </a:rPr>
              <a:t>make dev — </a:t>
            </a:r>
            <a:r>
              <a:rPr sz="1600">
                <a:solidFill>
                  <a:srgbClr val="1A1A2E"/>
                </a:solidFill>
              </a:rPr>
              <a:t>démarre le serveur local avec aperçu en direct.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600" b="1">
                <a:solidFill>
                  <a:srgbClr val="FFCC00"/>
                </a:solidFill>
              </a:rPr>
              <a:t>•  </a:t>
            </a:r>
            <a:r>
              <a:rPr sz="1600" b="1">
                <a:solidFill>
                  <a:srgbClr val="003399"/>
                </a:solidFill>
              </a:rPr>
              <a:t>Hot reload — </a:t>
            </a:r>
            <a:r>
              <a:rPr sz="1600">
                <a:solidFill>
                  <a:srgbClr val="1A1A2E"/>
                </a:solidFill>
              </a:rPr>
              <a:t>modifiez une page ou un fragment inclus → l'aperçu se met à jour seul.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600" b="1">
                <a:solidFill>
                  <a:srgbClr val="FFCC00"/>
                </a:solidFill>
              </a:rPr>
              <a:t>•  </a:t>
            </a:r>
            <a:r>
              <a:rPr sz="1600" b="1">
                <a:solidFill>
                  <a:srgbClr val="003399"/>
                </a:solidFill>
              </a:rPr>
              <a:t>make prod — </a:t>
            </a:r>
            <a:r>
              <a:rPr sz="1600">
                <a:solidFill>
                  <a:srgbClr val="1A1A2E"/>
                </a:solidFill>
              </a:rPr>
              <a:t>build de production servi derrière Caddy.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600" b="1">
                <a:solidFill>
                  <a:srgbClr val="FFCC00"/>
                </a:solidFill>
              </a:rPr>
              <a:t>•  </a:t>
            </a:r>
            <a:r>
              <a:rPr sz="1600" b="1">
                <a:solidFill>
                  <a:srgbClr val="003399"/>
                </a:solidFill>
              </a:rPr>
              <a:t>Pas d'outillage à installer — </a:t>
            </a:r>
            <a:r>
              <a:rPr sz="1600">
                <a:solidFill>
                  <a:srgbClr val="1A1A2E"/>
                </a:solidFill>
              </a:rPr>
              <a:t>tout passe par Docker / docker-compose.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A4A4A"/>
                </a:solidFill>
                <a:latin typeface="Calibri"/>
              </a:rPr>
              <a:t>Docusaurus — guide d'utilisation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1908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4A4A4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4FA0"/>
                </a:solidFill>
                <a:latin typeface="Calibri"/>
              </a:rPr>
              <a:t>RÉUTILISER — UNE SEULE SOURCE DE VÉRITÉ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3399"/>
                </a:solidFill>
                <a:latin typeface="Calibri"/>
              </a:rPr>
              <a:t>Blocs réutilisables : « Prérequis »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2011680" cy="3810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288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600" b="1">
                <a:solidFill>
                  <a:srgbClr val="FFCC00"/>
                </a:solidFill>
              </a:rPr>
              <a:t>•  </a:t>
            </a:r>
            <a:r>
              <a:rPr sz="1600" b="1">
                <a:solidFill>
                  <a:srgbClr val="003399"/>
                </a:solidFill>
              </a:rPr>
              <a:t>Partial Markdown — </a:t>
            </a:r>
            <a:r>
              <a:rPr sz="1600">
                <a:solidFill>
                  <a:srgbClr val="1A1A2E"/>
                </a:solidFill>
              </a:rPr>
              <a:t>factorisez un bloc récurrent (ex. « Prérequis ») dans un fichier.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600" b="1">
                <a:solidFill>
                  <a:srgbClr val="FFCC00"/>
                </a:solidFill>
              </a:rPr>
              <a:t>•  </a:t>
            </a:r>
            <a:r>
              <a:rPr sz="1600" b="1">
                <a:solidFill>
                  <a:srgbClr val="003399"/>
                </a:solidFill>
              </a:rPr>
              <a:t>Composant MDX global — </a:t>
            </a:r>
            <a:r>
              <a:rPr sz="1600">
                <a:solidFill>
                  <a:srgbClr val="1A1A2E"/>
                </a:solidFill>
              </a:rPr>
              <a:t>utilisable dans n'importe quelle page, sans import.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600" b="1">
                <a:solidFill>
                  <a:srgbClr val="FFCC00"/>
                </a:solidFill>
              </a:rPr>
              <a:t>•  </a:t>
            </a:r>
            <a:r>
              <a:rPr sz="1600" b="1">
                <a:solidFill>
                  <a:srgbClr val="003399"/>
                </a:solidFill>
              </a:rPr>
              <a:t>Inclusions imbriquées — </a:t>
            </a:r>
            <a:r>
              <a:rPr sz="1600">
                <a:solidFill>
                  <a:srgbClr val="1A1A2E"/>
                </a:solidFill>
              </a:rPr>
              <a:t>un fragment peut en inclure d'autres (cycles détectés).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600" b="1">
                <a:solidFill>
                  <a:srgbClr val="FFCC00"/>
                </a:solidFill>
              </a:rPr>
              <a:t>•  </a:t>
            </a:r>
            <a:r>
              <a:rPr sz="1600" b="1">
                <a:solidFill>
                  <a:srgbClr val="003399"/>
                </a:solidFill>
              </a:rPr>
              <a:t>Bénéfice — </a:t>
            </a:r>
            <a:r>
              <a:rPr sz="1600">
                <a:solidFill>
                  <a:srgbClr val="1A1A2E"/>
                </a:solidFill>
              </a:rPr>
              <a:t>mettez à jour le bloc une fois → toutes les pages suivent.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A4A4A"/>
                </a:solidFill>
                <a:latin typeface="Calibri"/>
              </a:rPr>
              <a:t>Docusaurus — guide d'utilisation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1908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4A4A4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4FA0"/>
                </a:solidFill>
                <a:latin typeface="Calibri"/>
              </a:rPr>
              <a:t>ILLUSTRER — DIAGRAMMES D'ARCHITECTURE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3399"/>
                </a:solidFill>
                <a:latin typeface="Calibri"/>
              </a:rPr>
              <a:t>LikeC4 &amp; tldraw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2011680" cy="3810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288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600" b="1">
                <a:solidFill>
                  <a:srgbClr val="FFCC00"/>
                </a:solidFill>
              </a:rPr>
              <a:t>•  </a:t>
            </a:r>
            <a:r>
              <a:rPr sz="1600" b="1">
                <a:solidFill>
                  <a:srgbClr val="003399"/>
                </a:solidFill>
              </a:rPr>
              <a:t>LikeC4 — </a:t>
            </a:r>
            <a:r>
              <a:rPr sz="1600">
                <a:solidFill>
                  <a:srgbClr val="1A1A2E"/>
                </a:solidFill>
              </a:rPr>
              <a:t>diagrammes d'architecture (modèle C4) décrits en texte.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400" b="1">
                <a:solidFill>
                  <a:srgbClr val="1B4FA0"/>
                </a:solidFill>
              </a:rPr>
              <a:t>   –  </a:t>
            </a:r>
            <a:r>
              <a:rPr sz="1400">
                <a:solidFill>
                  <a:srgbClr val="4A4A4A"/>
                </a:solidFill>
              </a:rPr>
              <a:t>page /likec4 pour explorer le diagramme interactif.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400" b="1">
                <a:solidFill>
                  <a:srgbClr val="1B4FA0"/>
                </a:solidFill>
              </a:rPr>
              <a:t>   –  </a:t>
            </a:r>
            <a:r>
              <a:rPr sz="1400">
                <a:solidFill>
                  <a:srgbClr val="4A4A4A"/>
                </a:solidFill>
              </a:rPr>
              <a:t>vues : contexte, composants, déploiements dev / prod, use-cases.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600" b="1">
                <a:solidFill>
                  <a:srgbClr val="FFCC00"/>
                </a:solidFill>
              </a:rPr>
              <a:t>•  </a:t>
            </a:r>
            <a:r>
              <a:rPr sz="1600" b="1">
                <a:solidFill>
                  <a:srgbClr val="003399"/>
                </a:solidFill>
              </a:rPr>
              <a:t>tldraw — </a:t>
            </a:r>
            <a:r>
              <a:rPr sz="1600">
                <a:solidFill>
                  <a:srgbClr val="1A1A2E"/>
                </a:solidFill>
              </a:rPr>
              <a:t>page /tldraw pour des schémas libres et le whiteboarding.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600" b="1">
                <a:solidFill>
                  <a:srgbClr val="FFCC00"/>
                </a:solidFill>
              </a:rPr>
              <a:t>•  </a:t>
            </a:r>
            <a:r>
              <a:rPr sz="1600" b="1">
                <a:solidFill>
                  <a:srgbClr val="003399"/>
                </a:solidFill>
              </a:rPr>
              <a:t>Docs d'archi — </a:t>
            </a:r>
            <a:r>
              <a:rPr sz="1600">
                <a:solidFill>
                  <a:srgbClr val="1A1A2E"/>
                </a:solidFill>
              </a:rPr>
              <a:t>chapitres prêts : résumé, parties prenantes, ADR, building blocks…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A4A4A"/>
                </a:solidFill>
                <a:latin typeface="Calibri"/>
              </a:rPr>
              <a:t>Docusaurus — guide d'utilisation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1908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4A4A4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4FA0"/>
                </a:solidFill>
                <a:latin typeface="Calibri"/>
              </a:rPr>
              <a:t>EXPORTER — PDF PROFESSIONNEL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3399"/>
                </a:solidFill>
                <a:latin typeface="Calibri"/>
              </a:rPr>
              <a:t>Exporter la doc en PDF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2011680" cy="3810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2880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600" b="1">
                <a:solidFill>
                  <a:srgbClr val="FFCC00"/>
                </a:solidFill>
              </a:rPr>
              <a:t>•  </a:t>
            </a:r>
            <a:r>
              <a:rPr sz="1600" b="1">
                <a:solidFill>
                  <a:srgbClr val="003399"/>
                </a:solidFill>
              </a:rPr>
              <a:t>make pdf — </a:t>
            </a:r>
            <a:r>
              <a:rPr sz="1600">
                <a:solidFill>
                  <a:srgbClr val="1A1A2E"/>
                </a:solidFill>
              </a:rPr>
              <a:t>assemble toute la doc en un seul PDF brandé.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600" b="1">
                <a:solidFill>
                  <a:srgbClr val="FFCC00"/>
                </a:solidFill>
              </a:rPr>
              <a:t>•  </a:t>
            </a:r>
            <a:r>
              <a:rPr sz="1600">
                <a:solidFill>
                  <a:srgbClr val="1A1A2E"/>
                </a:solidFill>
              </a:rPr>
              <a:t>couverture, table des matières (vrais n° de page), signets.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600" b="1">
                <a:solidFill>
                  <a:srgbClr val="FFCC00"/>
                </a:solidFill>
              </a:rPr>
              <a:t>•  </a:t>
            </a:r>
            <a:r>
              <a:rPr sz="1600" b="1">
                <a:solidFill>
                  <a:srgbClr val="003399"/>
                </a:solidFill>
              </a:rPr>
              <a:t>Personnalisable — </a:t>
            </a:r>
            <a:r>
              <a:rPr sz="1600">
                <a:solidFill>
                  <a:srgbClr val="1A1A2E"/>
                </a:solidFill>
              </a:rPr>
              <a:t>titre, sous-titre, baseUrl, pages à exclure.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400" b="1">
                <a:solidFill>
                  <a:srgbClr val="1B4FA0"/>
                </a:solidFill>
              </a:rPr>
              <a:t>   –  </a:t>
            </a:r>
            <a:r>
              <a:rPr sz="1400">
                <a:solidFill>
                  <a:srgbClr val="4A4A4A"/>
                </a:solidFill>
              </a:rPr>
              <a:t>ex. exclure la page LikeC4 interactive (non imprimable).</a:t>
            </a:r>
          </a:p>
        </p:txBody>
      </p:sp>
      <p:pic>
        <p:nvPicPr>
          <p:cNvPr id="7" name="Picture 6" descr="03-pdf-us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2320790"/>
            <a:ext cx="6035040" cy="313081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419088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A4A4A"/>
                </a:solidFill>
                <a:latin typeface="Calibri"/>
              </a:rPr>
              <a:t>Docusaurus — guide d'utilisation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1908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4A4A4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4FA0"/>
                </a:solidFill>
                <a:latin typeface="Calibri"/>
              </a:rPr>
              <a:t>AUTOMATISER — CI/CD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3399"/>
                </a:solidFill>
                <a:latin typeface="Calibri"/>
              </a:rPr>
              <a:t>Ce qui se passe à chaque push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2011680" cy="3810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288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600" b="1">
                <a:solidFill>
                  <a:srgbClr val="FFCC00"/>
                </a:solidFill>
              </a:rPr>
              <a:t>•  </a:t>
            </a:r>
            <a:r>
              <a:rPr sz="1600" b="1">
                <a:solidFill>
                  <a:srgbClr val="003399"/>
                </a:solidFill>
              </a:rPr>
              <a:t>Site publié — </a:t>
            </a:r>
            <a:r>
              <a:rPr sz="1600">
                <a:solidFill>
                  <a:srgbClr val="1A1A2E"/>
                </a:solidFill>
              </a:rPr>
              <a:t>le site + documentation.pdf sont déployés sur GitHub Pages.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600" b="1">
                <a:solidFill>
                  <a:srgbClr val="FFCC00"/>
                </a:solidFill>
              </a:rPr>
              <a:t>•  </a:t>
            </a:r>
            <a:r>
              <a:rPr sz="1600" b="1">
                <a:solidFill>
                  <a:srgbClr val="003399"/>
                </a:solidFill>
              </a:rPr>
              <a:t>PDF en artefact — </a:t>
            </a:r>
            <a:r>
              <a:rPr sz="1600">
                <a:solidFill>
                  <a:srgbClr val="1A1A2E"/>
                </a:solidFill>
              </a:rPr>
              <a:t>à chaque push / pull request, le PDF est produit et téléchargeable.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600" b="1">
                <a:solidFill>
                  <a:srgbClr val="FFCC00"/>
                </a:solidFill>
              </a:rPr>
              <a:t>•  </a:t>
            </a:r>
            <a:r>
              <a:rPr sz="1600" b="1">
                <a:solidFill>
                  <a:srgbClr val="003399"/>
                </a:solidFill>
              </a:rPr>
              <a:t>PDF de release — </a:t>
            </a:r>
            <a:r>
              <a:rPr sz="1600">
                <a:solidFill>
                  <a:srgbClr val="1A1A2E"/>
                </a:solidFill>
              </a:rPr>
              <a:t>à chaque release, le PDF d'architecture est proposé en Pull Request.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600" b="1">
                <a:solidFill>
                  <a:srgbClr val="FFCC00"/>
                </a:solidFill>
              </a:rPr>
              <a:t>•  </a:t>
            </a:r>
            <a:r>
              <a:rPr sz="1600" b="1">
                <a:solidFill>
                  <a:srgbClr val="003399"/>
                </a:solidFill>
              </a:rPr>
              <a:t>Rien à faire manuellement — </a:t>
            </a:r>
            <a:r>
              <a:rPr sz="1600">
                <a:solidFill>
                  <a:srgbClr val="1A1A2E"/>
                </a:solidFill>
              </a:rPr>
              <a:t>vous poussez, la chaîne s'occupe du reste.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A4A4A"/>
                </a:solidFill>
                <a:latin typeface="Calibri"/>
              </a:rPr>
              <a:t>Docusaurus — guide d'utilisation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1908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4A4A4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4FA0"/>
                </a:solidFill>
                <a:latin typeface="Calibri"/>
              </a:rPr>
              <a:t>AIDE-MÉMOIRE — COMMANDES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3399"/>
                </a:solidFill>
                <a:latin typeface="Calibri"/>
              </a:rPr>
              <a:t>Les commandes essentielles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2011680" cy="3810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2880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600" b="1">
                <a:solidFill>
                  <a:srgbClr val="FFCC00"/>
                </a:solidFill>
              </a:rPr>
              <a:t>•  </a:t>
            </a:r>
            <a:r>
              <a:rPr sz="1600" b="1">
                <a:solidFill>
                  <a:srgbClr val="003399"/>
                </a:solidFill>
              </a:rPr>
              <a:t>make dev — </a:t>
            </a:r>
            <a:r>
              <a:rPr sz="1600">
                <a:solidFill>
                  <a:srgbClr val="1A1A2E"/>
                </a:solidFill>
              </a:rPr>
              <a:t>serveur local + aperçu en direct.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600" b="1">
                <a:solidFill>
                  <a:srgbClr val="FFCC00"/>
                </a:solidFill>
              </a:rPr>
              <a:t>•  </a:t>
            </a:r>
            <a:r>
              <a:rPr sz="1600" b="1">
                <a:solidFill>
                  <a:srgbClr val="003399"/>
                </a:solidFill>
              </a:rPr>
              <a:t>make prod — </a:t>
            </a:r>
            <a:r>
              <a:rPr sz="1600">
                <a:solidFill>
                  <a:srgbClr val="1A1A2E"/>
                </a:solidFill>
              </a:rPr>
              <a:t>build de production (Caddy).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600" b="1">
                <a:solidFill>
                  <a:srgbClr val="FFCC00"/>
                </a:solidFill>
              </a:rPr>
              <a:t>•  </a:t>
            </a:r>
            <a:r>
              <a:rPr sz="1600" b="1">
                <a:solidFill>
                  <a:srgbClr val="003399"/>
                </a:solidFill>
              </a:rPr>
              <a:t>make pdf — </a:t>
            </a:r>
            <a:r>
              <a:rPr sz="1600">
                <a:solidFill>
                  <a:srgbClr val="1A1A2E"/>
                </a:solidFill>
              </a:rPr>
              <a:t>exporter la doc en PDF.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600" b="1">
                <a:solidFill>
                  <a:srgbClr val="FFCC00"/>
                </a:solidFill>
              </a:rPr>
              <a:t>•  </a:t>
            </a:r>
            <a:r>
              <a:rPr sz="1600" b="1">
                <a:solidFill>
                  <a:srgbClr val="003399"/>
                </a:solidFill>
              </a:rPr>
              <a:t>Un seul point d'entrée — </a:t>
            </a:r>
            <a:r>
              <a:rPr sz="1600">
                <a:solidFill>
                  <a:srgbClr val="1A1A2E"/>
                </a:solidFill>
              </a:rPr>
              <a:t>le Makefile orchestre toute la chaîne.</a:t>
            </a:r>
          </a:p>
        </p:txBody>
      </p:sp>
      <p:pic>
        <p:nvPicPr>
          <p:cNvPr id="7" name="Picture 6" descr="02-make-comm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2239593"/>
            <a:ext cx="6035040" cy="329321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419088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A4A4A"/>
                </a:solidFill>
                <a:latin typeface="Calibri"/>
              </a:rPr>
              <a:t>Docusaurus — guide d'utilisation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1908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4A4A4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ocusaur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457200"/>
            <a:ext cx="822960" cy="82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4008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Aide-mémoire</a:t>
            </a:r>
          </a:p>
        </p:txBody>
      </p:sp>
      <p:sp>
        <p:nvSpPr>
          <p:cNvPr id="6" name="Rectangle 5"/>
          <p:cNvSpPr/>
          <p:nvPr/>
        </p:nvSpPr>
        <p:spPr>
          <a:xfrm>
            <a:off x="932688" y="1371600"/>
            <a:ext cx="1828800" cy="3810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CC00"/>
                </a:solidFill>
                <a:latin typeface="Calibri"/>
              </a:rPr>
              <a:t>✓  </a:t>
            </a:r>
            <a:r>
              <a:rPr sz="1700" b="1">
                <a:solidFill>
                  <a:srgbClr val="FFFFFF"/>
                </a:solidFill>
                <a:latin typeface="Calibri"/>
              </a:rPr>
              <a:t>make dev  —  </a:t>
            </a:r>
            <a:r>
              <a:rPr sz="1500" b="0">
                <a:solidFill>
                  <a:srgbClr val="CCD6EE"/>
                </a:solidFill>
                <a:latin typeface="Calibri"/>
              </a:rPr>
              <a:t>lancer le serveur local (aperçu en direct)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0487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CC00"/>
                </a:solidFill>
                <a:latin typeface="Calibri"/>
              </a:rPr>
              <a:t>✓  </a:t>
            </a:r>
            <a:r>
              <a:rPr sz="1700" b="1">
                <a:solidFill>
                  <a:srgbClr val="FFFFFF"/>
                </a:solidFill>
                <a:latin typeface="Calibri"/>
              </a:rPr>
              <a:t>#include "fichier.md"  —  </a:t>
            </a:r>
            <a:r>
              <a:rPr sz="1500" b="0">
                <a:solidFill>
                  <a:srgbClr val="CCD6EE"/>
                </a:solidFill>
                <a:latin typeface="Calibri"/>
              </a:rPr>
              <a:t>assembler des fragments réutilisables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2666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CC00"/>
                </a:solidFill>
                <a:latin typeface="Calibri"/>
              </a:rPr>
              <a:t>✓  </a:t>
            </a:r>
            <a:r>
              <a:rPr sz="1700" b="1">
                <a:solidFill>
                  <a:srgbClr val="FFFFFF"/>
                </a:solidFill>
                <a:latin typeface="Calibri"/>
              </a:rPr>
              <a:t>« Prérequis »  —  </a:t>
            </a:r>
            <a:r>
              <a:rPr sz="1500" b="0">
                <a:solidFill>
                  <a:srgbClr val="CCD6EE"/>
                </a:solidFill>
                <a:latin typeface="Calibri"/>
              </a:rPr>
              <a:t>réutiliser un bloc partout, une seule 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64845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CC00"/>
                </a:solidFill>
                <a:latin typeface="Calibri"/>
              </a:rPr>
              <a:t>✓  </a:t>
            </a:r>
            <a:r>
              <a:rPr sz="1700" b="1">
                <a:solidFill>
                  <a:srgbClr val="FFFFFF"/>
                </a:solidFill>
                <a:latin typeface="Calibri"/>
              </a:rPr>
              <a:t>LikeC4 / tldraw  —  </a:t>
            </a:r>
            <a:r>
              <a:rPr sz="1500" b="0">
                <a:solidFill>
                  <a:srgbClr val="CCD6EE"/>
                </a:solidFill>
                <a:latin typeface="Calibri"/>
              </a:rPr>
              <a:t>consulter les diagrammes d'architecture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27024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CC00"/>
                </a:solidFill>
                <a:latin typeface="Calibri"/>
              </a:rPr>
              <a:t>✓  </a:t>
            </a:r>
            <a:r>
              <a:rPr sz="1700" b="1">
                <a:solidFill>
                  <a:srgbClr val="FFFFFF"/>
                </a:solidFill>
                <a:latin typeface="Calibri"/>
              </a:rPr>
              <a:t>make pdf  —  </a:t>
            </a:r>
            <a:r>
              <a:rPr sz="1500" b="0">
                <a:solidFill>
                  <a:srgbClr val="CCD6EE"/>
                </a:solidFill>
                <a:latin typeface="Calibri"/>
              </a:rPr>
              <a:t>exporter toute la doc en un PDF brandé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8920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CC00"/>
                </a:solidFill>
                <a:latin typeface="Calibri"/>
              </a:rPr>
              <a:t>✓  </a:t>
            </a:r>
            <a:r>
              <a:rPr sz="1700" b="1">
                <a:solidFill>
                  <a:srgbClr val="FFFFFF"/>
                </a:solidFill>
                <a:latin typeface="Calibri"/>
              </a:rPr>
              <a:t>git push  —  </a:t>
            </a:r>
            <a:r>
              <a:rPr sz="1500" b="0">
                <a:solidFill>
                  <a:srgbClr val="CCD6EE"/>
                </a:solidFill>
                <a:latin typeface="Calibri"/>
              </a:rPr>
              <a:t>site + PDF publiés automatiquement (CI/CD)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2179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CC00"/>
                </a:solidFill>
                <a:latin typeface="Calibri"/>
              </a:rPr>
              <a:t>Bonne rédaction !  —  InnovateIt-ak / docusaurus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