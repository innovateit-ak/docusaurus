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109728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ocusaur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02920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CC00"/>
                </a:solidFill>
                <a:latin typeface="Calibri"/>
              </a:rPr>
              <a:t>USER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Docusaurus — User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CD6EE"/>
                </a:solidFill>
                <a:latin typeface="Calibri"/>
              </a:rPr>
              <a:t>Write, preview, illustrate and export your 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BBDD"/>
                </a:solidFill>
                <a:latin typeface="Calibri"/>
              </a:rPr>
              <a:t>InnovateIt-ak / docusaurus</a:t>
            </a:r>
            <a:r>
              <a:rPr sz="1400" b="0">
                <a:solidFill>
                  <a:srgbClr val="AABBDD"/>
                </a:solidFill>
                <a:latin typeface="Calibri"/>
              </a:rPr>
              <a:t>      •      June 25,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4FA0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3399"/>
                </a:solidFill>
                <a:latin typeface="Calibri"/>
              </a:rPr>
              <a:t>What you can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381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288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Write — </a:t>
            </a:r>
            <a:r>
              <a:rPr sz="1600">
                <a:solidFill>
                  <a:srgbClr val="1A1A2E"/>
                </a:solidFill>
              </a:rPr>
              <a:t>author your docs in Markdown / MDX, as usual.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Assemble — </a:t>
            </a:r>
            <a:r>
              <a:rPr sz="1600">
                <a:solidFill>
                  <a:srgbClr val="1A1A2E"/>
                </a:solidFill>
              </a:rPr>
              <a:t>reuse fragments with the #include directive — no import needed.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Illustrate — </a:t>
            </a:r>
            <a:r>
              <a:rPr sz="1600">
                <a:solidFill>
                  <a:srgbClr val="1A1A2E"/>
                </a:solidFill>
              </a:rPr>
              <a:t>embed architecture diagrams (LikeC4) and sketches (tldraw).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Preview — </a:t>
            </a:r>
            <a:r>
              <a:rPr sz="1600">
                <a:solidFill>
                  <a:srgbClr val="1A1A2E"/>
                </a:solidFill>
              </a:rPr>
              <a:t>live preview: any edit (even an included fragment) refreshes instantly.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Export — </a:t>
            </a:r>
            <a:r>
              <a:rPr sz="1600">
                <a:solidFill>
                  <a:srgbClr val="1A1A2E"/>
                </a:solidFill>
              </a:rPr>
              <a:t>generate one branded PDF and publish the site in a single command.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Calibri"/>
              </a:rPr>
              <a:t>Docusaurus — user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4A4A4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4FA0"/>
                </a:solidFill>
                <a:latin typeface="Calibri"/>
              </a:rPr>
              <a:t>WRITE — MODULAR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3399"/>
                </a:solidFill>
                <a:latin typeface="Calibri"/>
              </a:rPr>
              <a:t>Assemble with #include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381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2880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Goal — </a:t>
            </a:r>
            <a:r>
              <a:rPr sz="1600">
                <a:solidFill>
                  <a:srgbClr val="1A1A2E"/>
                </a:solidFill>
              </a:rPr>
              <a:t>compose one page from several files.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>
                <a:solidFill>
                  <a:srgbClr val="1A1A2E"/>
                </a:solidFill>
              </a:rPr>
              <a:t>write #include "path/file.md" on its own line.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>
                <a:solidFill>
                  <a:srgbClr val="1B4FA0"/>
                </a:solidFill>
              </a:rPr>
              <a:t>   –  </a:t>
            </a:r>
            <a:r>
              <a:rPr sz="1400">
                <a:solidFill>
                  <a:srgbClr val="4A4A4A"/>
                </a:solidFill>
              </a:rPr>
              <a:t>no import: content is inserted right there.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>
                <a:solidFill>
                  <a:srgbClr val="1B4FA0"/>
                </a:solidFill>
              </a:rPr>
              <a:t>   –  </a:t>
            </a:r>
            <a:r>
              <a:rPr sz="1400">
                <a:solidFill>
                  <a:srgbClr val="4A4A4A"/>
                </a:solidFill>
              </a:rPr>
              <a:t>path relative to the file; front matter stripped.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Tip — </a:t>
            </a:r>
            <a:r>
              <a:rPr sz="1600">
                <a:solidFill>
                  <a:srgbClr val="1A1A2E"/>
                </a:solidFill>
              </a:rPr>
              <a:t>an _fragments/ folder (underscore) stays out of the sidebar.</a:t>
            </a:r>
          </a:p>
        </p:txBody>
      </p:sp>
      <p:pic>
        <p:nvPicPr>
          <p:cNvPr id="7" name="Picture 6" descr="01-include-u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302956"/>
            <a:ext cx="6035040" cy="316648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41908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Calibri"/>
              </a:rPr>
              <a:t>Docusaurus —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4A4A4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4FA0"/>
                </a:solidFill>
                <a:latin typeface="Calibri"/>
              </a:rPr>
              <a:t>PREVIEW —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3399"/>
                </a:solidFill>
                <a:latin typeface="Calibri"/>
              </a:rPr>
              <a:t>Run and preview the site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381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288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make dev — </a:t>
            </a:r>
            <a:r>
              <a:rPr sz="1600">
                <a:solidFill>
                  <a:srgbClr val="1A1A2E"/>
                </a:solidFill>
              </a:rPr>
              <a:t>starts the local server with live preview.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Hot reload — </a:t>
            </a:r>
            <a:r>
              <a:rPr sz="1600">
                <a:solidFill>
                  <a:srgbClr val="1A1A2E"/>
                </a:solidFill>
              </a:rPr>
              <a:t>edit a page or an included fragment → the preview updates itself.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make prod — </a:t>
            </a:r>
            <a:r>
              <a:rPr sz="1600">
                <a:solidFill>
                  <a:srgbClr val="1A1A2E"/>
                </a:solidFill>
              </a:rPr>
              <a:t>production build served behind Caddy.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No toolchain to install — </a:t>
            </a:r>
            <a:r>
              <a:rPr sz="1600">
                <a:solidFill>
                  <a:srgbClr val="1A1A2E"/>
                </a:solidFill>
              </a:rPr>
              <a:t>everything runs via Docker / docker-compose.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Calibri"/>
              </a:rPr>
              <a:t>Docusaurus — user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4A4A4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4FA0"/>
                </a:solidFill>
                <a:latin typeface="Calibri"/>
              </a:rPr>
              <a:t>REUSE — SINGLE SOURCE OF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3399"/>
                </a:solidFill>
                <a:latin typeface="Calibri"/>
              </a:rPr>
              <a:t>Reusable blocks: "Prerequisites"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381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288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Markdown partial — </a:t>
            </a:r>
            <a:r>
              <a:rPr sz="1600">
                <a:solidFill>
                  <a:srgbClr val="1A1A2E"/>
                </a:solidFill>
              </a:rPr>
              <a:t>factor a recurring block (e.g. "Prerequisites") into one file.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Global MDX component — </a:t>
            </a:r>
            <a:r>
              <a:rPr sz="1600">
                <a:solidFill>
                  <a:srgbClr val="1A1A2E"/>
                </a:solidFill>
              </a:rPr>
              <a:t>usable in any page, with no import.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Nested includes — </a:t>
            </a:r>
            <a:r>
              <a:rPr sz="1600">
                <a:solidFill>
                  <a:srgbClr val="1A1A2E"/>
                </a:solidFill>
              </a:rPr>
              <a:t>a fragment can include others (cycles are detected).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Benefit — </a:t>
            </a:r>
            <a:r>
              <a:rPr sz="1600">
                <a:solidFill>
                  <a:srgbClr val="1A1A2E"/>
                </a:solidFill>
              </a:rPr>
              <a:t>update the block once → every page follows.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Calibri"/>
              </a:rPr>
              <a:t>Docusaurus — user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4A4A4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4FA0"/>
                </a:solidFill>
                <a:latin typeface="Calibri"/>
              </a:rPr>
              <a:t>ILLUSTRATE — ARCHITECTURE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3399"/>
                </a:solidFill>
                <a:latin typeface="Calibri"/>
              </a:rPr>
              <a:t>LikeC4 &amp; tldraw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381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288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LikeC4 — </a:t>
            </a:r>
            <a:r>
              <a:rPr sz="1600">
                <a:solidFill>
                  <a:srgbClr val="1A1A2E"/>
                </a:solidFill>
              </a:rPr>
              <a:t>architecture diagrams (C4 model) described as text.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>
                <a:solidFill>
                  <a:srgbClr val="1B4FA0"/>
                </a:solidFill>
              </a:rPr>
              <a:t>   –  </a:t>
            </a:r>
            <a:r>
              <a:rPr sz="1400">
                <a:solidFill>
                  <a:srgbClr val="4A4A4A"/>
                </a:solidFill>
              </a:rPr>
              <a:t>/likec4 page to explore the interactive diagram.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>
                <a:solidFill>
                  <a:srgbClr val="1B4FA0"/>
                </a:solidFill>
              </a:rPr>
              <a:t>   –  </a:t>
            </a:r>
            <a:r>
              <a:rPr sz="1400">
                <a:solidFill>
                  <a:srgbClr val="4A4A4A"/>
                </a:solidFill>
              </a:rPr>
              <a:t>views: context, components, dev / prod deployments, use cases.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tldraw — </a:t>
            </a:r>
            <a:r>
              <a:rPr sz="1600">
                <a:solidFill>
                  <a:srgbClr val="1A1A2E"/>
                </a:solidFill>
              </a:rPr>
              <a:t>/tldraw page for free-form sketches and whiteboarding.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Architecture docs — </a:t>
            </a:r>
            <a:r>
              <a:rPr sz="1600">
                <a:solidFill>
                  <a:srgbClr val="1A1A2E"/>
                </a:solidFill>
              </a:rPr>
              <a:t>ready chapters: summary, stakeholders, ADRs, building blocks…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Calibri"/>
              </a:rPr>
              <a:t>Docusaurus — user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4A4A4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4FA0"/>
                </a:solidFill>
                <a:latin typeface="Calibri"/>
              </a:rPr>
              <a:t>EXPORT — PROFESSIONAL PDF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3399"/>
                </a:solidFill>
                <a:latin typeface="Calibri"/>
              </a:rPr>
              <a:t>Export the docs to PDF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381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2880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make pdf — </a:t>
            </a:r>
            <a:r>
              <a:rPr sz="1600">
                <a:solidFill>
                  <a:srgbClr val="1A1A2E"/>
                </a:solidFill>
              </a:rPr>
              <a:t>assembles the whole docs into one branded PDF.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>
                <a:solidFill>
                  <a:srgbClr val="1A1A2E"/>
                </a:solidFill>
              </a:rPr>
              <a:t>cover page, table of contents (real page numbers), bookmarks.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Customizable — </a:t>
            </a:r>
            <a:r>
              <a:rPr sz="1600">
                <a:solidFill>
                  <a:srgbClr val="1A1A2E"/>
                </a:solidFill>
              </a:rPr>
              <a:t>title, subtitle, baseUrl, pages to exclude.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>
                <a:solidFill>
                  <a:srgbClr val="1B4FA0"/>
                </a:solidFill>
              </a:rPr>
              <a:t>   –  </a:t>
            </a:r>
            <a:r>
              <a:rPr sz="1400">
                <a:solidFill>
                  <a:srgbClr val="4A4A4A"/>
                </a:solidFill>
              </a:rPr>
              <a:t>e.g. exclude the interactive LikeC4 page (not printable).</a:t>
            </a:r>
          </a:p>
        </p:txBody>
      </p:sp>
      <p:pic>
        <p:nvPicPr>
          <p:cNvPr id="7" name="Picture 6" descr="03-pdf-u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320790"/>
            <a:ext cx="6035040" cy="313081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41908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Calibri"/>
              </a:rPr>
              <a:t>Docusaurus —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4A4A4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4FA0"/>
                </a:solidFill>
                <a:latin typeface="Calibri"/>
              </a:rPr>
              <a:t>AUTOMATE —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3399"/>
                </a:solidFill>
                <a:latin typeface="Calibri"/>
              </a:rPr>
              <a:t>What happens on every push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381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288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Site published — </a:t>
            </a:r>
            <a:r>
              <a:rPr sz="1600">
                <a:solidFill>
                  <a:srgbClr val="1A1A2E"/>
                </a:solidFill>
              </a:rPr>
              <a:t>the site + documentation.pdf are deployed to GitHub Pages.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PDF artifact — </a:t>
            </a:r>
            <a:r>
              <a:rPr sz="1600">
                <a:solidFill>
                  <a:srgbClr val="1A1A2E"/>
                </a:solidFill>
              </a:rPr>
              <a:t>on every push / pull request the PDF is built and downloadable.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Release PDF — </a:t>
            </a:r>
            <a:r>
              <a:rPr sz="1600">
                <a:solidFill>
                  <a:srgbClr val="1A1A2E"/>
                </a:solidFill>
              </a:rPr>
              <a:t>on each release, the architecture PDF is proposed as a Pull Request.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Nothing manual — </a:t>
            </a:r>
            <a:r>
              <a:rPr sz="1600">
                <a:solidFill>
                  <a:srgbClr val="1A1A2E"/>
                </a:solidFill>
              </a:rPr>
              <a:t>you push, the pipeline does the rest.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Calibri"/>
              </a:rPr>
              <a:t>Docusaurus — user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4A4A4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4FA0"/>
                </a:solidFill>
                <a:latin typeface="Calibri"/>
              </a:rPr>
              <a:t>CHEAT SHEET —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3399"/>
                </a:solidFill>
                <a:latin typeface="Calibri"/>
              </a:rPr>
              <a:t>The essential commands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381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2880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make dev — </a:t>
            </a:r>
            <a:r>
              <a:rPr sz="1600">
                <a:solidFill>
                  <a:srgbClr val="1A1A2E"/>
                </a:solidFill>
              </a:rPr>
              <a:t>local server + live preview.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make prod — </a:t>
            </a:r>
            <a:r>
              <a:rPr sz="1600">
                <a:solidFill>
                  <a:srgbClr val="1A1A2E"/>
                </a:solidFill>
              </a:rPr>
              <a:t>production build (Caddy).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make pdf — </a:t>
            </a:r>
            <a:r>
              <a:rPr sz="1600">
                <a:solidFill>
                  <a:srgbClr val="1A1A2E"/>
                </a:solidFill>
              </a:rPr>
              <a:t>export the docs to PDF.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One entry point — </a:t>
            </a:r>
            <a:r>
              <a:rPr sz="1600">
                <a:solidFill>
                  <a:srgbClr val="1A1A2E"/>
                </a:solidFill>
              </a:rPr>
              <a:t>the Makefile orchestrates the whole chain.</a:t>
            </a:r>
          </a:p>
        </p:txBody>
      </p:sp>
      <p:pic>
        <p:nvPicPr>
          <p:cNvPr id="7" name="Picture 6" descr="02-make-comm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239593"/>
            <a:ext cx="6035040" cy="329321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41908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Calibri"/>
              </a:rPr>
              <a:t>Docusaurus —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4A4A4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ocusaur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457200"/>
            <a:ext cx="822960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4008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Cheat sheet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" y="1371600"/>
            <a:ext cx="1828800" cy="381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CC00"/>
                </a:solidFill>
                <a:latin typeface="Calibri"/>
              </a:rPr>
              <a:t>✓  </a:t>
            </a:r>
            <a:r>
              <a:rPr sz="1700" b="1">
                <a:solidFill>
                  <a:srgbClr val="FFFFFF"/>
                </a:solidFill>
                <a:latin typeface="Calibri"/>
              </a:rPr>
              <a:t>make dev  —  </a:t>
            </a:r>
            <a:r>
              <a:rPr sz="1500" b="0">
                <a:solidFill>
                  <a:srgbClr val="CCD6EE"/>
                </a:solidFill>
                <a:latin typeface="Calibri"/>
              </a:rPr>
              <a:t>start the local server (live preview)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0487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CC00"/>
                </a:solidFill>
                <a:latin typeface="Calibri"/>
              </a:rPr>
              <a:t>✓  </a:t>
            </a:r>
            <a:r>
              <a:rPr sz="1700" b="1">
                <a:solidFill>
                  <a:srgbClr val="FFFFFF"/>
                </a:solidFill>
                <a:latin typeface="Calibri"/>
              </a:rPr>
              <a:t>#include "file.md"  —  </a:t>
            </a:r>
            <a:r>
              <a:rPr sz="1500" b="0">
                <a:solidFill>
                  <a:srgbClr val="CCD6EE"/>
                </a:solidFill>
                <a:latin typeface="Calibri"/>
              </a:rPr>
              <a:t>assemble reusable fragments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2666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CC00"/>
                </a:solidFill>
                <a:latin typeface="Calibri"/>
              </a:rPr>
              <a:t>✓  </a:t>
            </a:r>
            <a:r>
              <a:rPr sz="1700" b="1">
                <a:solidFill>
                  <a:srgbClr val="FFFFFF"/>
                </a:solidFill>
                <a:latin typeface="Calibri"/>
              </a:rPr>
              <a:t>"Prerequisites"  —  </a:t>
            </a:r>
            <a:r>
              <a:rPr sz="1500" b="0">
                <a:solidFill>
                  <a:srgbClr val="CCD6EE"/>
                </a:solidFill>
                <a:latin typeface="Calibri"/>
              </a:rPr>
              <a:t>reuse one block everywhere, single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64845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CC00"/>
                </a:solidFill>
                <a:latin typeface="Calibri"/>
              </a:rPr>
              <a:t>✓  </a:t>
            </a:r>
            <a:r>
              <a:rPr sz="1700" b="1">
                <a:solidFill>
                  <a:srgbClr val="FFFFFF"/>
                </a:solidFill>
                <a:latin typeface="Calibri"/>
              </a:rPr>
              <a:t>LikeC4 / tldraw  —  </a:t>
            </a:r>
            <a:r>
              <a:rPr sz="1500" b="0">
                <a:solidFill>
                  <a:srgbClr val="CCD6EE"/>
                </a:solidFill>
                <a:latin typeface="Calibri"/>
              </a:rPr>
              <a:t>browse the architecture diagrams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7024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CC00"/>
                </a:solidFill>
                <a:latin typeface="Calibri"/>
              </a:rPr>
              <a:t>✓  </a:t>
            </a:r>
            <a:r>
              <a:rPr sz="1700" b="1">
                <a:solidFill>
                  <a:srgbClr val="FFFFFF"/>
                </a:solidFill>
                <a:latin typeface="Calibri"/>
              </a:rPr>
              <a:t>make pdf  —  </a:t>
            </a:r>
            <a:r>
              <a:rPr sz="1500" b="0">
                <a:solidFill>
                  <a:srgbClr val="CCD6EE"/>
                </a:solidFill>
                <a:latin typeface="Calibri"/>
              </a:rPr>
              <a:t>export the whole docs as one branded 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892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CC00"/>
                </a:solidFill>
                <a:latin typeface="Calibri"/>
              </a:rPr>
              <a:t>✓  </a:t>
            </a:r>
            <a:r>
              <a:rPr sz="1700" b="1">
                <a:solidFill>
                  <a:srgbClr val="FFFFFF"/>
                </a:solidFill>
                <a:latin typeface="Calibri"/>
              </a:rPr>
              <a:t>git push  —  </a:t>
            </a:r>
            <a:r>
              <a:rPr sz="1500" b="0">
                <a:solidFill>
                  <a:srgbClr val="CCD6EE"/>
                </a:solidFill>
                <a:latin typeface="Calibri"/>
              </a:rPr>
              <a:t>site + PDF published automatically (CI/CD)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CC00"/>
                </a:solidFill>
                <a:latin typeface="Calibri"/>
              </a:rPr>
              <a:t>Happy writing!  —  InnovateIt-ak / docusaurus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